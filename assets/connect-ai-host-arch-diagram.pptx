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952" userDrawn="1">
          <p15:clr>
            <a:srgbClr val="A4A3A4"/>
          </p15:clr>
        </p15:guide>
        <p15:guide id="3" pos="5664" userDrawn="1">
          <p15:clr>
            <a:srgbClr val="A4A3A4"/>
          </p15:clr>
        </p15:guide>
        <p15:guide id="4" pos="5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elle Nolan" initials="JN" lastIdx="7" clrIdx="0">
    <p:extLst>
      <p:ext uri="{19B8F6BF-5375-455C-9EA6-DF929625EA0E}">
        <p15:presenceInfo xmlns:p15="http://schemas.microsoft.com/office/powerpoint/2012/main" userId="Janelle Nol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88C1"/>
    <a:srgbClr val="FCA7D2"/>
    <a:srgbClr val="EAEDED"/>
    <a:srgbClr val="D5DBDB"/>
    <a:srgbClr val="545B64"/>
    <a:srgbClr val="23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73" autoAdjust="0"/>
    <p:restoredTop sz="96374" autoAdjust="0"/>
  </p:normalViewPr>
  <p:slideViewPr>
    <p:cSldViewPr>
      <p:cViewPr varScale="1">
        <p:scale>
          <a:sx n="222" d="100"/>
          <a:sy n="222" d="100"/>
        </p:scale>
        <p:origin x="1368" y="96"/>
      </p:cViewPr>
      <p:guideLst>
        <p:guide orient="horz" pos="2160"/>
        <p:guide pos="5952"/>
        <p:guide pos="5664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D1AE-04B2-F147-8122-2A32BD7879DD}" type="datetimeFigureOut">
              <a:rPr lang="en-US" smtClean="0"/>
              <a:t>8/5/26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C6CBF-D31D-B841-861D-EC168426F2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5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D5F9-588D-F89B-DF59-01623C28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626D9-84E7-C51B-A1A8-F46F56773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A84AA-6FAA-09E4-4F2E-B36BD0CD9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C0078-2898-B285-7E22-1AF61BEC5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C6CBF-D31D-B841-861D-EC168426F2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99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16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10820400" cy="12162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820400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AWS copyright text">
            <a:extLst>
              <a:ext uri="{FF2B5EF4-FFF2-40B4-BE49-F238E27FC236}">
                <a16:creationId xmlns:a16="http://schemas.microsoft.com/office/drawing/2014/main" id="{F49B8274-557F-7642-B09D-244509A45E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90600" y="6376454"/>
            <a:ext cx="4036484" cy="28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x-none" sz="933" b="0" i="1" dirty="0">
                <a:solidFill>
                  <a:srgbClr val="7F7F7F"/>
                </a:solidFill>
                <a:latin typeface="Arial" panose="020B0604020202020204" pitchFamily="34" charset="0"/>
                <a:ea typeface="Amazon Ember" charset="0"/>
                <a:cs typeface="Arial" panose="020B0604020202020204" pitchFamily="34" charset="0"/>
              </a:rPr>
              <a:t>Reviewed for technical accuracy April, 2026</a:t>
            </a:r>
          </a:p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rial" panose="020B0604020202020204" pitchFamily="34" charset="0"/>
                <a:ea typeface="Amazon Ember" charset="0"/>
                <a:cs typeface="Arial" panose="020B0604020202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0" name="AWS Reference Architecture text">
            <a:extLst>
              <a:ext uri="{FF2B5EF4-FFF2-40B4-BE49-F238E27FC236}">
                <a16:creationId xmlns:a16="http://schemas.microsoft.com/office/drawing/2014/main" id="{5EF8CEBA-0ED4-8243-9BCD-E9FD95F708AB}"/>
              </a:ext>
            </a:extLst>
          </p:cNvPr>
          <p:cNvSpPr txBox="1"/>
          <p:nvPr userDrawn="1"/>
        </p:nvSpPr>
        <p:spPr>
          <a:xfrm>
            <a:off x="5334000" y="6345238"/>
            <a:ext cx="2895599" cy="320040"/>
          </a:xfrm>
          <a:prstGeom prst="rect">
            <a:avLst/>
          </a:prstGeom>
          <a:noFill/>
        </p:spPr>
        <p:txBody>
          <a:bodyPr wrap="square" rIns="45720" rtlCol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FF99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Reference Architecture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CF8A73-2F72-5D48-9C99-24F2173AD3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908" y="6314768"/>
            <a:ext cx="585391" cy="3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mazon Ember" panose="020B0603020204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mazon Ember" panose="020B0603020204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mazon Ember" panose="020B0603020204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mazon Ember" panose="020B0603020204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mazon Ember" panose="020B0603020204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mazon Ember" panose="020B0603020204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23D7-857F-662D-BDC5-CDAFC4AC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30F1E84A-870E-2D4C-C6BC-C56350254A92}"/>
              </a:ext>
            </a:extLst>
          </p:cNvPr>
          <p:cNvSpPr/>
          <p:nvPr/>
        </p:nvSpPr>
        <p:spPr>
          <a:xfrm>
            <a:off x="1002309" y="1584762"/>
            <a:ext cx="2032133" cy="15467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1000" b="1" dirty="0">
                <a:solidFill>
                  <a:srgbClr val="16191F"/>
                </a:solidFill>
                <a:latin typeface="Arial"/>
              </a:rPr>
              <a:t>Section D</a:t>
            </a:r>
            <a:endParaRPr sz="10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D4B0BF0-CC32-1FC2-1C88-EBCBB9573A04}"/>
              </a:ext>
            </a:extLst>
          </p:cNvPr>
          <p:cNvSpPr/>
          <p:nvPr/>
        </p:nvSpPr>
        <p:spPr>
          <a:xfrm>
            <a:off x="3082763" y="1577466"/>
            <a:ext cx="5664652" cy="1557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1000" b="1" dirty="0">
                <a:solidFill>
                  <a:srgbClr val="16191F"/>
                </a:solidFill>
                <a:latin typeface="Arial"/>
              </a:rPr>
              <a:t>Section C</a:t>
            </a:r>
            <a:endParaRPr sz="10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31B0DE6-4D15-66E1-3C4E-39FC513B919C}"/>
              </a:ext>
            </a:extLst>
          </p:cNvPr>
          <p:cNvSpPr/>
          <p:nvPr/>
        </p:nvSpPr>
        <p:spPr>
          <a:xfrm>
            <a:off x="1002310" y="3240895"/>
            <a:ext cx="2032133" cy="16071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1000" b="1" dirty="0">
                <a:solidFill>
                  <a:srgbClr val="16191F"/>
                </a:solidFill>
                <a:latin typeface="Arial"/>
              </a:rPr>
              <a:t>Section B</a:t>
            </a:r>
            <a:endParaRPr sz="1000" b="1" dirty="0">
              <a:solidFill>
                <a:srgbClr val="16191F"/>
              </a:solidFill>
              <a:latin typeface="Arial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AB1D9F2-B737-3444-A700-B3AFF932F9C5}"/>
              </a:ext>
            </a:extLst>
          </p:cNvPr>
          <p:cNvGrpSpPr/>
          <p:nvPr/>
        </p:nvGrpSpPr>
        <p:grpSpPr>
          <a:xfrm>
            <a:off x="3102450" y="3253573"/>
            <a:ext cx="5664652" cy="3032356"/>
            <a:chOff x="3098348" y="3130480"/>
            <a:chExt cx="5664652" cy="3032356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BD8DEC4-4420-18C8-C574-8C8FDBABD169}"/>
                </a:ext>
              </a:extLst>
            </p:cNvPr>
            <p:cNvSpPr/>
            <p:nvPr/>
          </p:nvSpPr>
          <p:spPr>
            <a:xfrm>
              <a:off x="3098348" y="3130480"/>
              <a:ext cx="5664652" cy="160717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5875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45720" rtlCol="0" anchor="t"/>
            <a:lstStyle/>
            <a:p>
              <a:pPr algn="l"/>
              <a:r>
                <a:rPr lang="en-US" sz="1000" b="1" dirty="0">
                  <a:solidFill>
                    <a:srgbClr val="16191F"/>
                  </a:solidFill>
                  <a:latin typeface="Arial"/>
                </a:rPr>
                <a:t>Section A</a:t>
              </a:r>
              <a:endParaRPr sz="1000" b="1" dirty="0">
                <a:solidFill>
                  <a:srgbClr val="16191F"/>
                </a:solidFill>
                <a:latin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61AE072-9DF1-EF72-177B-2329E8BCD6BB}"/>
                </a:ext>
              </a:extLst>
            </p:cNvPr>
            <p:cNvSpPr/>
            <p:nvPr/>
          </p:nvSpPr>
          <p:spPr>
            <a:xfrm>
              <a:off x="6662057" y="4648200"/>
              <a:ext cx="2095616" cy="15146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5875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45720" rtlCol="0" anchor="t"/>
            <a:lstStyle/>
            <a:p>
              <a:pPr algn="l"/>
              <a:endParaRPr sz="900" b="1" dirty="0">
                <a:solidFill>
                  <a:srgbClr val="16191F"/>
                </a:solidFill>
                <a:latin typeface="Arial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42BFC812-9E4A-2DA9-946F-11606AE291C7}"/>
              </a:ext>
            </a:extLst>
          </p:cNvPr>
          <p:cNvSpPr/>
          <p:nvPr/>
        </p:nvSpPr>
        <p:spPr>
          <a:xfrm>
            <a:off x="1129097" y="1799493"/>
            <a:ext cx="1840992" cy="1277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rgbClr val="EDB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900" b="1" dirty="0">
                <a:solidFill>
                  <a:srgbClr val="16191F"/>
                </a:solidFill>
                <a:latin typeface="Arial"/>
              </a:rPr>
              <a:t>Amazon Connect Customer</a:t>
            </a:r>
            <a:endParaRPr sz="9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0986BDE-AC64-5370-39DF-9529FE17FD1C}"/>
              </a:ext>
            </a:extLst>
          </p:cNvPr>
          <p:cNvSpPr/>
          <p:nvPr/>
        </p:nvSpPr>
        <p:spPr>
          <a:xfrm>
            <a:off x="6793770" y="4923693"/>
            <a:ext cx="1853058" cy="1288574"/>
          </a:xfrm>
          <a:prstGeom prst="rect">
            <a:avLst/>
          </a:prstGeom>
          <a:solidFill>
            <a:srgbClr val="FDE8EE"/>
          </a:solidFill>
          <a:ln w="15875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900" b="1" dirty="0">
                <a:solidFill>
                  <a:srgbClr val="16191F"/>
                </a:solidFill>
                <a:latin typeface="Arial"/>
              </a:rPr>
              <a:t>Location</a:t>
            </a:r>
            <a:endParaRPr sz="9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2397325" y="4938998"/>
            <a:ext cx="3383884" cy="1283402"/>
          </a:xfrm>
          <a:prstGeom prst="rect">
            <a:avLst/>
          </a:prstGeom>
          <a:solidFill>
            <a:srgbClr val="F0F0F0"/>
          </a:solidFill>
          <a:ln w="1587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r>
              <a:rPr sz="900" b="1" dirty="0">
                <a:solidFill>
                  <a:srgbClr val="16191F"/>
                </a:solidFill>
                <a:latin typeface="Arial"/>
              </a:rPr>
              <a:t>Security &amp; Monitoring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6304" y="45720"/>
            <a:ext cx="868680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900" b="1" dirty="0">
                <a:solidFill>
                  <a:srgbClr val="16191F"/>
                </a:solidFill>
                <a:latin typeface="Arial"/>
              </a:rPr>
              <a:t>Guidance for Restaurant Telephony AI Host </a:t>
            </a:r>
            <a:r>
              <a:rPr sz="1900" b="1" dirty="0">
                <a:solidFill>
                  <a:srgbClr val="16191F"/>
                </a:solidFill>
                <a:latin typeface="Arial"/>
              </a:rPr>
              <a:t>using </a:t>
            </a:r>
            <a:r>
              <a:rPr lang="en-US" sz="1900" b="1" dirty="0">
                <a:solidFill>
                  <a:srgbClr val="16191F"/>
                </a:solidFill>
                <a:latin typeface="Arial"/>
              </a:rPr>
              <a:t>Amazon Connect Customer</a:t>
            </a:r>
            <a:endParaRPr sz="19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6304" y="621268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dirty="0">
                <a:solidFill>
                  <a:srgbClr val="16191F"/>
                </a:solidFill>
                <a:latin typeface="Arial"/>
              </a:rPr>
              <a:t>This architecture diagram shows how to build a </a:t>
            </a:r>
            <a:r>
              <a:rPr lang="en-US" sz="1200" b="0" dirty="0">
                <a:solidFill>
                  <a:srgbClr val="16191F"/>
                </a:solidFill>
                <a:latin typeface="Arial"/>
              </a:rPr>
              <a:t>Restaurant </a:t>
            </a:r>
            <a:r>
              <a:rPr lang="en-US" sz="1200" dirty="0">
                <a:solidFill>
                  <a:srgbClr val="16191F"/>
                </a:solidFill>
                <a:latin typeface="Arial"/>
              </a:rPr>
              <a:t>Telephony </a:t>
            </a:r>
            <a:r>
              <a:rPr lang="en-US" sz="1200" b="0" dirty="0">
                <a:solidFill>
                  <a:srgbClr val="16191F"/>
                </a:solidFill>
                <a:latin typeface="Arial"/>
              </a:rPr>
              <a:t>AI Host</a:t>
            </a:r>
            <a:r>
              <a:rPr sz="1200" b="0" dirty="0">
                <a:solidFill>
                  <a:srgbClr val="16191F"/>
                </a:solidFill>
                <a:latin typeface="Arial"/>
              </a:rPr>
              <a:t> system using</a:t>
            </a:r>
            <a:r>
              <a:rPr lang="en-US" sz="1200" b="0" dirty="0">
                <a:solidFill>
                  <a:srgbClr val="16191F"/>
                </a:solidFill>
                <a:latin typeface="Arial"/>
              </a:rPr>
              <a:t> </a:t>
            </a:r>
            <a:r>
              <a:rPr sz="1200" b="0" dirty="0">
                <a:solidFill>
                  <a:srgbClr val="16191F"/>
                </a:solidFill>
                <a:latin typeface="Arial"/>
              </a:rPr>
              <a:t>Amazon </a:t>
            </a:r>
            <a:r>
              <a:rPr lang="en-US" sz="1200" b="0">
                <a:solidFill>
                  <a:srgbClr val="16191F"/>
                </a:solidFill>
                <a:latin typeface="Arial"/>
              </a:rPr>
              <a:t>Connect Customer, </a:t>
            </a:r>
            <a:r>
              <a:rPr lang="en-US" sz="1200">
                <a:solidFill>
                  <a:srgbClr val="16191F"/>
                </a:solidFill>
                <a:latin typeface="Arial"/>
              </a:rPr>
              <a:t>Agentic </a:t>
            </a:r>
            <a:r>
              <a:rPr lang="en-US" sz="1200" dirty="0">
                <a:solidFill>
                  <a:srgbClr val="16191F"/>
                </a:solidFill>
                <a:latin typeface="Arial"/>
              </a:rPr>
              <a:t>Voice</a:t>
            </a:r>
            <a:r>
              <a:rPr lang="en-US" sz="1200" b="0" dirty="0">
                <a:solidFill>
                  <a:srgbClr val="16191F"/>
                </a:solidFill>
                <a:latin typeface="Arial"/>
              </a:rPr>
              <a:t>, Amazon Bedroc</a:t>
            </a:r>
            <a:r>
              <a:rPr lang="en-US" sz="1200" dirty="0">
                <a:solidFill>
                  <a:srgbClr val="16191F"/>
                </a:solidFill>
                <a:latin typeface="Arial"/>
              </a:rPr>
              <a:t>k AgentCore </a:t>
            </a:r>
            <a:r>
              <a:rPr sz="1200" b="0" dirty="0">
                <a:solidFill>
                  <a:srgbClr val="16191F"/>
                </a:solidFill>
                <a:latin typeface="Arial"/>
              </a:rPr>
              <a:t>with MCP tool integration.</a:t>
            </a:r>
          </a:p>
        </p:txBody>
      </p:sp>
      <p:cxnSp>
        <p:nvCxnSpPr>
          <p:cNvPr id="4" name="Connector 3"/>
          <p:cNvCxnSpPr>
            <a:cxnSpLocks/>
          </p:cNvCxnSpPr>
          <p:nvPr/>
        </p:nvCxnSpPr>
        <p:spPr>
          <a:xfrm>
            <a:off x="121920" y="990600"/>
            <a:ext cx="8686800" cy="0"/>
          </a:xfrm>
          <a:prstGeom prst="line">
            <a:avLst/>
          </a:prstGeom>
          <a:ln w="12700">
            <a:solidFill>
              <a:srgbClr val="161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983847" y="0"/>
            <a:ext cx="3218688" cy="6858001"/>
          </a:xfrm>
          <a:prstGeom prst="rect">
            <a:avLst/>
          </a:prstGeom>
          <a:solidFill>
            <a:srgbClr val="E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45720" rtlCol="0" anchor="t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284" y="1164870"/>
            <a:ext cx="7937676" cy="5159727"/>
          </a:xfrm>
          <a:prstGeom prst="rect">
            <a:avLst/>
          </a:prstGeom>
          <a:noFill/>
          <a:ln w="19050">
            <a:solidFill>
              <a:srgbClr val="16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45720" rtlCol="0" anchor="t"/>
          <a:lstStyle/>
          <a:p>
            <a:pPr algn="ctr"/>
            <a:r>
              <a:rPr lang="en-US" dirty="0">
                <a:latin typeface="Arial"/>
              </a:rPr>
              <a:t>d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278933" y="12340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16191F"/>
                </a:solidFill>
                <a:latin typeface="Arial"/>
              </a:rPr>
              <a:t>AWS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8663" y="1808775"/>
            <a:ext cx="1839300" cy="1268098"/>
          </a:xfrm>
          <a:prstGeom prst="rect">
            <a:avLst/>
          </a:prstGeom>
          <a:solidFill>
            <a:srgbClr val="E8F4FD"/>
          </a:solidFill>
          <a:ln w="15875">
            <a:solidFill>
              <a:srgbClr val="B0D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900" b="1" dirty="0">
                <a:solidFill>
                  <a:srgbClr val="16191F"/>
                </a:solidFill>
                <a:latin typeface="Arial"/>
              </a:rPr>
              <a:t>Amazon Lex</a:t>
            </a:r>
            <a:endParaRPr sz="9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230752" y="1799494"/>
            <a:ext cx="3414430" cy="1277379"/>
          </a:xfrm>
          <a:prstGeom prst="rect">
            <a:avLst/>
          </a:prstGeom>
          <a:solidFill>
            <a:srgbClr val="FDF0E2"/>
          </a:solidFill>
          <a:ln w="15875">
            <a:solidFill>
              <a:srgbClr val="EDB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lang="en-US" sz="900" b="1" dirty="0">
                <a:solidFill>
                  <a:srgbClr val="16191F"/>
                </a:solidFill>
                <a:latin typeface="Arial"/>
              </a:rPr>
              <a:t>Amazon Connect AI Agents</a:t>
            </a:r>
            <a:endParaRPr sz="9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27423" y="3484415"/>
            <a:ext cx="1840992" cy="1277381"/>
          </a:xfrm>
          <a:prstGeom prst="rect">
            <a:avLst/>
          </a:prstGeom>
          <a:solidFill>
            <a:srgbClr val="E8F0FD"/>
          </a:solidFill>
          <a:ln w="15875">
            <a:solidFill>
              <a:srgbClr val="82A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sz="900" b="1" dirty="0">
                <a:solidFill>
                  <a:srgbClr val="16191F"/>
                </a:solidFill>
                <a:latin typeface="Arial"/>
              </a:rPr>
              <a:t>MCP Gateway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76980" y="3478395"/>
            <a:ext cx="3414725" cy="1283402"/>
          </a:xfrm>
          <a:prstGeom prst="rect">
            <a:avLst/>
          </a:prstGeom>
          <a:solidFill>
            <a:srgbClr val="F5E8F0"/>
          </a:solidFill>
          <a:ln w="15875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sz="900" b="1" dirty="0">
                <a:solidFill>
                  <a:srgbClr val="16191F"/>
                </a:solidFill>
                <a:latin typeface="Arial"/>
              </a:rPr>
              <a:t>API &amp; Compute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00270" y="3487891"/>
            <a:ext cx="1840992" cy="1283402"/>
          </a:xfrm>
          <a:prstGeom prst="rect">
            <a:avLst/>
          </a:prstGeom>
          <a:solidFill>
            <a:srgbClr val="FCA7D2"/>
          </a:solidFill>
          <a:ln w="15875">
            <a:solidFill>
              <a:srgbClr val="FF8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tlCol="0" anchor="t"/>
          <a:lstStyle/>
          <a:p>
            <a:pPr algn="l"/>
            <a:r>
              <a:rPr sz="900" b="1" dirty="0">
                <a:solidFill>
                  <a:srgbClr val="16191F"/>
                </a:solidFill>
                <a:latin typeface="Arial"/>
              </a:rPr>
              <a:t>Data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1" y="2693295"/>
            <a:ext cx="73581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6191F"/>
                </a:solidFill>
                <a:latin typeface="Arial"/>
              </a:rPr>
              <a:t>Phone Customers or forwarded call</a:t>
            </a:r>
            <a:endParaRPr sz="900" b="1" dirty="0">
              <a:solidFill>
                <a:srgbClr val="16191F"/>
              </a:solidFill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298313" y="4295001"/>
            <a:ext cx="159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Amazon Bedrock</a:t>
            </a:r>
          </a:p>
          <a:p>
            <a:pPr algn="ctr"/>
            <a:r>
              <a:rPr sz="900" b="0" i="1" dirty="0">
                <a:solidFill>
                  <a:srgbClr val="16191F"/>
                </a:solidFill>
                <a:latin typeface="Arial"/>
              </a:rPr>
              <a:t>AgentCore Gateway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38897" y="4334739"/>
            <a:ext cx="126800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Amazon API</a:t>
            </a:r>
            <a:r>
              <a:rPr lang="en-US" sz="900" b="1" dirty="0">
                <a:solidFill>
                  <a:srgbClr val="16191F"/>
                </a:solidFill>
                <a:latin typeface="Arial"/>
              </a:rPr>
              <a:t> </a:t>
            </a:r>
            <a:r>
              <a:rPr sz="900" b="1" dirty="0">
                <a:solidFill>
                  <a:srgbClr val="16191F"/>
                </a:solidFill>
                <a:latin typeface="Arial"/>
              </a:rPr>
              <a:t>Gateway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4302" y="4324542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AWS Lambda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0228" y="4355375"/>
            <a:ext cx="1239851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Amazon DynamoDB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3341" y="5761005"/>
            <a:ext cx="152704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Amazon Location Service</a:t>
            </a:r>
          </a:p>
        </p:txBody>
      </p:sp>
      <p:cxnSp>
        <p:nvCxnSpPr>
          <p:cNvPr id="60" name="Connector 59"/>
          <p:cNvCxnSpPr>
            <a:cxnSpLocks/>
            <a:stCxn id="116" idx="1"/>
            <a:endCxn id="7" idx="1"/>
          </p:cNvCxnSpPr>
          <p:nvPr/>
        </p:nvCxnSpPr>
        <p:spPr>
          <a:xfrm flipV="1">
            <a:off x="625417" y="2435941"/>
            <a:ext cx="1237965" cy="5173"/>
          </a:xfrm>
          <a:prstGeom prst="straightConnector1">
            <a:avLst/>
          </a:prstGeom>
          <a:ln w="15875">
            <a:solidFill>
              <a:srgbClr val="54575A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cxnSpLocks/>
            <a:stCxn id="37" idx="2"/>
            <a:endCxn id="98" idx="0"/>
          </p:cNvCxnSpPr>
          <p:nvPr/>
        </p:nvCxnSpPr>
        <p:spPr>
          <a:xfrm rot="5400000">
            <a:off x="3621451" y="1503716"/>
            <a:ext cx="835178" cy="3985556"/>
          </a:xfrm>
          <a:prstGeom prst="bentConnector3">
            <a:avLst>
              <a:gd name="adj1" fmla="val 14882"/>
            </a:avLst>
          </a:prstGeom>
          <a:ln w="15875">
            <a:solidFill>
              <a:srgbClr val="54575A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cxnSpLocks/>
            <a:stCxn id="98" idx="3"/>
            <a:endCxn id="103" idx="1"/>
          </p:cNvCxnSpPr>
          <p:nvPr/>
        </p:nvCxnSpPr>
        <p:spPr>
          <a:xfrm flipV="1">
            <a:off x="2229142" y="4084130"/>
            <a:ext cx="1677455" cy="12833"/>
          </a:xfrm>
          <a:prstGeom prst="straightConnector1">
            <a:avLst/>
          </a:prstGeom>
          <a:ln w="15875">
            <a:solidFill>
              <a:srgbClr val="545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cxnSpLocks/>
            <a:stCxn id="103" idx="3"/>
            <a:endCxn id="105" idx="1"/>
          </p:cNvCxnSpPr>
          <p:nvPr/>
        </p:nvCxnSpPr>
        <p:spPr>
          <a:xfrm>
            <a:off x="4272357" y="4084130"/>
            <a:ext cx="1431812" cy="10315"/>
          </a:xfrm>
          <a:prstGeom prst="straightConnector1">
            <a:avLst/>
          </a:prstGeom>
          <a:ln w="15875">
            <a:solidFill>
              <a:srgbClr val="545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cxnSpLocks/>
            <a:stCxn id="105" idx="3"/>
            <a:endCxn id="108" idx="1"/>
          </p:cNvCxnSpPr>
          <p:nvPr/>
        </p:nvCxnSpPr>
        <p:spPr>
          <a:xfrm>
            <a:off x="6069929" y="4094445"/>
            <a:ext cx="1497902" cy="11202"/>
          </a:xfrm>
          <a:prstGeom prst="straightConnector1">
            <a:avLst/>
          </a:prstGeom>
          <a:ln w="15875">
            <a:solidFill>
              <a:srgbClr val="545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53796" y="1981200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6" name="Oval 75"/>
          <p:cNvSpPr/>
          <p:nvPr/>
        </p:nvSpPr>
        <p:spPr>
          <a:xfrm>
            <a:off x="6164110" y="3788536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8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384821" y="3797696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19683C42-0CE3-C00B-09CA-E9DE88CF9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6284" y="1174467"/>
            <a:ext cx="365760" cy="365760"/>
          </a:xfrm>
          <a:prstGeom prst="rect">
            <a:avLst/>
          </a:prstGeom>
        </p:spPr>
      </p:pic>
      <p:pic>
        <p:nvPicPr>
          <p:cNvPr id="90" name="Graphic 89" descr="Amazon Bedrock AgentCore service icon.">
            <a:extLst>
              <a:ext uri="{FF2B5EF4-FFF2-40B4-BE49-F238E27FC236}">
                <a16:creationId xmlns:a16="http://schemas.microsoft.com/office/drawing/2014/main" id="{8229A72E-3B3D-E1D3-BF62-225EF77A89A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7563142" y="2258234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Graphic 97" descr="Amazon Bedrock AgentCore service icon.">
            <a:extLst>
              <a:ext uri="{FF2B5EF4-FFF2-40B4-BE49-F238E27FC236}">
                <a16:creationId xmlns:a16="http://schemas.microsoft.com/office/drawing/2014/main" id="{F3AC3C39-BBBA-5F84-ADEC-182851516B7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1863382" y="391408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Graphic 7" descr="Amazon API Gateway service icon.">
            <a:extLst>
              <a:ext uri="{FF2B5EF4-FFF2-40B4-BE49-F238E27FC236}">
                <a16:creationId xmlns:a16="http://schemas.microsoft.com/office/drawing/2014/main" id="{345C2149-FDCD-345B-0EF5-CB842740DE9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906597" y="3901250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Graphic 10" descr="AWS Lambda service icon.">
            <a:extLst>
              <a:ext uri="{FF2B5EF4-FFF2-40B4-BE49-F238E27FC236}">
                <a16:creationId xmlns:a16="http://schemas.microsoft.com/office/drawing/2014/main" id="{DC9FBEF4-D490-4668-08DB-D0075E4E4C84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5704169" y="3911565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23" descr="Amazon DynamoDB service icon.">
            <a:extLst>
              <a:ext uri="{FF2B5EF4-FFF2-40B4-BE49-F238E27FC236}">
                <a16:creationId xmlns:a16="http://schemas.microsoft.com/office/drawing/2014/main" id="{4D56D50C-805D-226B-029B-4616DD866F4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7567831" y="3922767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Graphic 109" descr="Amazon Location Service service icon.">
            <a:extLst>
              <a:ext uri="{FF2B5EF4-FFF2-40B4-BE49-F238E27FC236}">
                <a16:creationId xmlns:a16="http://schemas.microsoft.com/office/drawing/2014/main" id="{439EC0C9-757A-396E-3159-E0C20D842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63142" y="5362888"/>
            <a:ext cx="365760" cy="365760"/>
          </a:xfrm>
          <a:prstGeom prst="rect">
            <a:avLst/>
          </a:prstGeom>
        </p:spPr>
      </p:pic>
      <p:pic>
        <p:nvPicPr>
          <p:cNvPr id="116" name="Graphic 23" descr="Users resource icon for the General Icons category.">
            <a:extLst>
              <a:ext uri="{FF2B5EF4-FFF2-40B4-BE49-F238E27FC236}">
                <a16:creationId xmlns:a16="http://schemas.microsoft.com/office/drawing/2014/main" id="{F7D7561F-B710-E05E-6347-B6B33C5C144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 flipH="1">
            <a:off x="259657" y="2258234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0" name="Connector 63">
            <a:extLst>
              <a:ext uri="{FF2B5EF4-FFF2-40B4-BE49-F238E27FC236}">
                <a16:creationId xmlns:a16="http://schemas.microsoft.com/office/drawing/2014/main" id="{1F07F041-EA08-485F-F464-A919C3CFAF54}"/>
              </a:ext>
            </a:extLst>
          </p:cNvPr>
          <p:cNvCxnSpPr>
            <a:cxnSpLocks/>
            <a:stCxn id="49" idx="2"/>
            <a:endCxn id="110" idx="1"/>
          </p:cNvCxnSpPr>
          <p:nvPr/>
        </p:nvCxnSpPr>
        <p:spPr>
          <a:xfrm rot="16200000" flipH="1">
            <a:off x="6198819" y="4181444"/>
            <a:ext cx="1082727" cy="1645920"/>
          </a:xfrm>
          <a:prstGeom prst="bentConnector2">
            <a:avLst/>
          </a:prstGeom>
          <a:ln w="15875">
            <a:solidFill>
              <a:srgbClr val="545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Picture 150" descr="Amazon_CloudWat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5367321"/>
            <a:ext cx="365760" cy="36576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4479705" y="5812766"/>
            <a:ext cx="11582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Amazon</a:t>
            </a:r>
            <a:r>
              <a:rPr lang="en-US" sz="900" b="1" dirty="0">
                <a:solidFill>
                  <a:srgbClr val="16191F"/>
                </a:solidFill>
                <a:latin typeface="Arial"/>
              </a:rPr>
              <a:t> </a:t>
            </a:r>
            <a:r>
              <a:rPr sz="900" b="1" dirty="0">
                <a:solidFill>
                  <a:srgbClr val="16191F"/>
                </a:solidFill>
                <a:latin typeface="Arial"/>
              </a:rPr>
              <a:t>CloudWatch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375037" y="51471"/>
            <a:ext cx="2822974" cy="7001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en-US" sz="1000" dirty="0">
                <a:solidFill>
                  <a:srgbClr val="16191F"/>
                </a:solidFill>
                <a:latin typeface="Arial"/>
              </a:rPr>
              <a:t>A call is initiated to the phone number provisioned by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Connect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either by a customer or a forwarded call</a:t>
            </a:r>
            <a:r>
              <a:rPr sz="1000" b="0" dirty="0">
                <a:solidFill>
                  <a:srgbClr val="16191F"/>
                </a:solidFill>
                <a:latin typeface="Arial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Connect Contact Flow sets the Agentic Voice, 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captures the caller’s phone number, opens an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Connect AI Agents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 session, pushes the caller’s phone number into the session and plays the greeting to the caller.</a:t>
            </a:r>
            <a:endParaRPr sz="1000" b="0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b="0" dirty="0">
                <a:solidFill>
                  <a:srgbClr val="16191F"/>
                </a:solidFill>
                <a:latin typeface="Arial"/>
              </a:rPr>
              <a:t>The Contact Flow connects the caller to the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Lex V2 Bot 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with the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Connect Agentic Voice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 for speech recognition and synthesis throughout the conversation.</a:t>
            </a:r>
            <a:endParaRPr sz="1000" b="0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lex V2 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routes the conversation to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Connect AI Agents 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delegating all conversation logic to the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Orchestration AI Agent</a:t>
            </a:r>
            <a:endParaRPr sz="1000" b="1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b="0" dirty="0">
                <a:solidFill>
                  <a:srgbClr val="16191F"/>
                </a:solidFill>
                <a:latin typeface="Arial"/>
              </a:rPr>
              <a:t>The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Connect AI Agents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, powered by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Bedrock Anthropic Claude Haiku 4.5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,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with AI Guardrail for content safety, </a:t>
            </a:r>
            <a:r>
              <a:rPr lang="en-US" sz="1000" b="0" dirty="0">
                <a:solidFill>
                  <a:srgbClr val="16191F"/>
                </a:solidFill>
                <a:latin typeface="Arial"/>
              </a:rPr>
              <a:t>drives the conversation - resolving the caller’s location, fetching the menu, managing the cart, and placing the order.</a:t>
            </a:r>
            <a:endParaRPr sz="1000" b="0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dirty="0">
                <a:solidFill>
                  <a:srgbClr val="16191F"/>
                </a:solidFill>
                <a:latin typeface="Arial"/>
              </a:rPr>
              <a:t>The AI Agent calls the available tools through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Bedrock AgentCore Gateway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using the MCP protocol</a:t>
            </a:r>
            <a:endParaRPr sz="1000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b="1" dirty="0">
                <a:solidFill>
                  <a:srgbClr val="16191F"/>
                </a:solidFill>
                <a:latin typeface="Arial"/>
              </a:rPr>
              <a:t>AgentCore Gateway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forwards each tool call to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API Gateway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, which routes the request to the appropriate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AWS Lambda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function.</a:t>
            </a:r>
            <a:endParaRPr sz="1000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b="1" dirty="0">
                <a:solidFill>
                  <a:srgbClr val="16191F"/>
                </a:solidFill>
                <a:latin typeface="Arial"/>
              </a:rPr>
              <a:t>AWS Lambda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reads and writes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DynamoDB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for cart, order, menu, and location data, and calls </a:t>
            </a:r>
            <a:r>
              <a:rPr lang="en-US" sz="1000" b="1" dirty="0">
                <a:solidFill>
                  <a:srgbClr val="16191F"/>
                </a:solidFill>
                <a:latin typeface="Arial"/>
              </a:rPr>
              <a:t>Amazon Location Service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for geocoding and nearest-location lookup.</a:t>
            </a:r>
            <a:endParaRPr sz="1000" dirty="0">
              <a:solidFill>
                <a:srgbClr val="16191F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lang="en-US" sz="1000" b="1" dirty="0">
                <a:solidFill>
                  <a:srgbClr val="16191F"/>
                </a:solidFill>
                <a:latin typeface="Arial"/>
              </a:rPr>
              <a:t>AWS CDK </a:t>
            </a:r>
            <a:r>
              <a:rPr lang="en-US" sz="1000" dirty="0">
                <a:solidFill>
                  <a:srgbClr val="16191F"/>
                </a:solidFill>
                <a:latin typeface="Arial"/>
              </a:rPr>
              <a:t>Deploys all eight stacks in a single script. </a:t>
            </a:r>
          </a:p>
          <a:p>
            <a:pPr algn="l">
              <a:spcAft>
                <a:spcPts val="1000"/>
              </a:spcAft>
            </a:pPr>
            <a:r>
              <a:rPr sz="1000" b="1" dirty="0">
                <a:solidFill>
                  <a:srgbClr val="16191F"/>
                </a:solidFill>
                <a:latin typeface="Arial"/>
              </a:rPr>
              <a:t>Amazon CloudWatch</a:t>
            </a:r>
            <a:r>
              <a:rPr sz="1000" b="0" dirty="0">
                <a:solidFill>
                  <a:srgbClr val="16191F"/>
                </a:solidFill>
                <a:latin typeface="Arial"/>
              </a:rPr>
              <a:t> provides centralized monitoring, logging, and alerting across all services. All data at rest is encrypted using </a:t>
            </a:r>
            <a:r>
              <a:rPr sz="1000" b="1" dirty="0">
                <a:solidFill>
                  <a:srgbClr val="16191F"/>
                </a:solidFill>
                <a:latin typeface="Arial"/>
              </a:rPr>
              <a:t>AWS KMS</a:t>
            </a:r>
            <a:r>
              <a:rPr sz="1000" b="0" dirty="0">
                <a:solidFill>
                  <a:srgbClr val="16191F"/>
                </a:solidFill>
                <a:latin typeface="Arial"/>
              </a:rPr>
              <a:t>.</a:t>
            </a:r>
          </a:p>
        </p:txBody>
      </p:sp>
      <p:sp>
        <p:nvSpPr>
          <p:cNvPr id="156" name="Oval 155"/>
          <p:cNvSpPr/>
          <p:nvPr/>
        </p:nvSpPr>
        <p:spPr>
          <a:xfrm>
            <a:off x="9070104" y="98593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7" name="Oval 156"/>
          <p:cNvSpPr/>
          <p:nvPr/>
        </p:nvSpPr>
        <p:spPr>
          <a:xfrm>
            <a:off x="9070104" y="689182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8" name="Oval 157"/>
          <p:cNvSpPr/>
          <p:nvPr/>
        </p:nvSpPr>
        <p:spPr>
          <a:xfrm>
            <a:off x="9074206" y="1580392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Oval 158"/>
          <p:cNvSpPr/>
          <p:nvPr/>
        </p:nvSpPr>
        <p:spPr>
          <a:xfrm>
            <a:off x="9077016" y="2334768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0" name="Oval 159"/>
          <p:cNvSpPr/>
          <p:nvPr/>
        </p:nvSpPr>
        <p:spPr>
          <a:xfrm>
            <a:off x="9076521" y="2895600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1" name="Oval 160"/>
          <p:cNvSpPr/>
          <p:nvPr/>
        </p:nvSpPr>
        <p:spPr>
          <a:xfrm>
            <a:off x="9073373" y="4495800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7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9073373" y="5077968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8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9080994" y="5839968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5" name="Oval 164"/>
          <p:cNvSpPr/>
          <p:nvPr/>
        </p:nvSpPr>
        <p:spPr>
          <a:xfrm>
            <a:off x="9069271" y="6297168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66" name="Oval 165"/>
          <p:cNvSpPr/>
          <p:nvPr/>
        </p:nvSpPr>
        <p:spPr>
          <a:xfrm>
            <a:off x="1512375" y="5087678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pic>
        <p:nvPicPr>
          <p:cNvPr id="168" name="Picture 167" descr="AWS_KM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6953" y="5367321"/>
            <a:ext cx="365760" cy="36576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2822974" y="577019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AWS KMS</a:t>
            </a:r>
          </a:p>
        </p:txBody>
      </p:sp>
      <p:pic>
        <p:nvPicPr>
          <p:cNvPr id="171" name="Picture 170" descr="AWS_CD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8925" y="5385100"/>
            <a:ext cx="365760" cy="36576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138885" y="578796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6191F"/>
                </a:solidFill>
                <a:latin typeface="Arial"/>
              </a:rPr>
              <a:t>AWS CDK</a:t>
            </a:r>
          </a:p>
        </p:txBody>
      </p:sp>
      <p:sp>
        <p:nvSpPr>
          <p:cNvPr id="91" name="TextBox 24">
            <a:extLst>
              <a:ext uri="{FF2B5EF4-FFF2-40B4-BE49-F238E27FC236}">
                <a16:creationId xmlns:a16="http://schemas.microsoft.com/office/drawing/2014/main" id="{05BBBEFC-5B49-C98A-C551-E8143B802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026" y="2596462"/>
            <a:ext cx="1147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Connect Contact Flow</a:t>
            </a:r>
            <a:endParaRPr lang="en-US" altLang="en-US" sz="9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94" name="Connector 61">
            <a:extLst>
              <a:ext uri="{FF2B5EF4-FFF2-40B4-BE49-F238E27FC236}">
                <a16:creationId xmlns:a16="http://schemas.microsoft.com/office/drawing/2014/main" id="{D6BE88CF-E749-C26B-F8CE-0C9B4DCB52BC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2229142" y="2427484"/>
            <a:ext cx="1686789" cy="8457"/>
          </a:xfrm>
          <a:prstGeom prst="straightConnector1">
            <a:avLst/>
          </a:prstGeom>
          <a:ln w="15875">
            <a:solidFill>
              <a:srgbClr val="54575A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DBB80AC1-FB13-84D2-DE56-8B51AF94D712}"/>
              </a:ext>
            </a:extLst>
          </p:cNvPr>
          <p:cNvSpPr/>
          <p:nvPr/>
        </p:nvSpPr>
        <p:spPr>
          <a:xfrm>
            <a:off x="1711229" y="1967043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2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CD3A2BE1-64F5-5644-E74E-7860139E1AC8}"/>
              </a:ext>
            </a:extLst>
          </p:cNvPr>
          <p:cNvSpPr/>
          <p:nvPr/>
        </p:nvSpPr>
        <p:spPr>
          <a:xfrm>
            <a:off x="6174272" y="2140067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5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1664906F-F657-CA75-7D99-23C683DC2F0B}"/>
              </a:ext>
            </a:extLst>
          </p:cNvPr>
          <p:cNvSpPr/>
          <p:nvPr/>
        </p:nvSpPr>
        <p:spPr>
          <a:xfrm>
            <a:off x="4412743" y="2136917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4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DBEB40C0-90F6-9142-D19A-2FD4EAFD93B5}"/>
              </a:ext>
            </a:extLst>
          </p:cNvPr>
          <p:cNvSpPr/>
          <p:nvPr/>
        </p:nvSpPr>
        <p:spPr>
          <a:xfrm>
            <a:off x="9073373" y="3934968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pic>
        <p:nvPicPr>
          <p:cNvPr id="7" name="Graphic 7" descr="Amazon Connect service icon.">
            <a:extLst>
              <a:ext uri="{FF2B5EF4-FFF2-40B4-BE49-F238E27FC236}">
                <a16:creationId xmlns:a16="http://schemas.microsoft.com/office/drawing/2014/main" id="{7A566EC0-7E4F-2D3C-EAE0-C52374606C4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863382" y="2253061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phic 23" descr="Amazon Lex service icon.">
            <a:extLst>
              <a:ext uri="{FF2B5EF4-FFF2-40B4-BE49-F238E27FC236}">
                <a16:creationId xmlns:a16="http://schemas.microsoft.com/office/drawing/2014/main" id="{6DBE2635-A672-CF17-568F-BCD214D249F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3915931" y="2242994"/>
            <a:ext cx="368979" cy="368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24">
            <a:extLst>
              <a:ext uri="{FF2B5EF4-FFF2-40B4-BE49-F238E27FC236}">
                <a16:creationId xmlns:a16="http://schemas.microsoft.com/office/drawing/2014/main" id="{2B3AD6FF-B9D0-AF32-ADCD-7CECD6B0D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5216" y="2593743"/>
            <a:ext cx="1849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Lex V2 Bot </a:t>
            </a:r>
            <a:br>
              <a:rPr lang="en-US" altLang="en-US" sz="900" b="1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Connect Agentic Voice</a:t>
            </a:r>
          </a:p>
        </p:txBody>
      </p:sp>
      <p:pic>
        <p:nvPicPr>
          <p:cNvPr id="21" name="Graphic 20" descr="Amazon Q service icon.">
            <a:extLst>
              <a:ext uri="{FF2B5EF4-FFF2-40B4-BE49-F238E27FC236}">
                <a16:creationId xmlns:a16="http://schemas.microsoft.com/office/drawing/2014/main" id="{89169B0F-5BA2-375C-584D-6525516EA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791200" y="2253061"/>
            <a:ext cx="365760" cy="365760"/>
          </a:xfrm>
          <a:prstGeom prst="rect">
            <a:avLst/>
          </a:prstGeom>
        </p:spPr>
      </p:pic>
      <p:cxnSp>
        <p:nvCxnSpPr>
          <p:cNvPr id="26" name="Connector 61">
            <a:extLst>
              <a:ext uri="{FF2B5EF4-FFF2-40B4-BE49-F238E27FC236}">
                <a16:creationId xmlns:a16="http://schemas.microsoft.com/office/drawing/2014/main" id="{DA240EE8-0215-DC0A-5671-1BFB21BF1D4A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4284910" y="2427484"/>
            <a:ext cx="1506290" cy="8457"/>
          </a:xfrm>
          <a:prstGeom prst="straightConnector1">
            <a:avLst/>
          </a:prstGeom>
          <a:ln w="15875">
            <a:solidFill>
              <a:srgbClr val="54575A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24">
            <a:extLst>
              <a:ext uri="{FF2B5EF4-FFF2-40B4-BE49-F238E27FC236}">
                <a16:creationId xmlns:a16="http://schemas.microsoft.com/office/drawing/2014/main" id="{B1C8F1AE-A01B-1214-315F-7CF2B2EAB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837" y="2597170"/>
            <a:ext cx="1849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900" b="1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Anthropic Claude Haiku 4.5</a:t>
            </a:r>
            <a:endParaRPr lang="en-US" altLang="en-US" sz="9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396AB543-5EEF-AEF6-89F2-92D301E2B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314" y="2571074"/>
            <a:ext cx="186900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Connect AI Agents</a:t>
            </a:r>
          </a:p>
          <a:p>
            <a:pPr algn="ctr" eaLnBrk="1" hangingPunct="1"/>
            <a:r>
              <a:rPr lang="en-US" altLang="en-US" sz="9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Orchestration AI Agent + AI Guardrails</a:t>
            </a:r>
          </a:p>
        </p:txBody>
      </p:sp>
      <p:cxnSp>
        <p:nvCxnSpPr>
          <p:cNvPr id="48" name="Connector 61">
            <a:extLst>
              <a:ext uri="{FF2B5EF4-FFF2-40B4-BE49-F238E27FC236}">
                <a16:creationId xmlns:a16="http://schemas.microsoft.com/office/drawing/2014/main" id="{46C8164F-2465-8C52-B689-722FDDF9E34C}"/>
              </a:ext>
            </a:extLst>
          </p:cNvPr>
          <p:cNvCxnSpPr>
            <a:cxnSpLocks/>
            <a:stCxn id="21" idx="3"/>
            <a:endCxn id="90" idx="1"/>
          </p:cNvCxnSpPr>
          <p:nvPr/>
        </p:nvCxnSpPr>
        <p:spPr>
          <a:xfrm>
            <a:off x="6156960" y="2435941"/>
            <a:ext cx="1406182" cy="5173"/>
          </a:xfrm>
          <a:prstGeom prst="straightConnector1">
            <a:avLst/>
          </a:prstGeom>
          <a:ln w="15875">
            <a:solidFill>
              <a:srgbClr val="54575A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63">
            <a:extLst>
              <a:ext uri="{FF2B5EF4-FFF2-40B4-BE49-F238E27FC236}">
                <a16:creationId xmlns:a16="http://schemas.microsoft.com/office/drawing/2014/main" id="{A43F6D4D-DA7F-9B83-AEA1-5C14E53F8864}"/>
              </a:ext>
            </a:extLst>
          </p:cNvPr>
          <p:cNvCxnSpPr>
            <a:cxnSpLocks/>
            <a:stCxn id="7" idx="0"/>
            <a:endCxn id="21" idx="0"/>
          </p:cNvCxnSpPr>
          <p:nvPr/>
        </p:nvCxnSpPr>
        <p:spPr>
          <a:xfrm rot="5400000" flipH="1" flipV="1">
            <a:off x="4010171" y="289152"/>
            <a:ext cx="12700" cy="3927818"/>
          </a:xfrm>
          <a:prstGeom prst="bentConnector3">
            <a:avLst>
              <a:gd name="adj1" fmla="val 1800000"/>
            </a:avLst>
          </a:prstGeom>
          <a:ln w="15875">
            <a:solidFill>
              <a:srgbClr val="545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E96C5B94-210C-F9AF-ACCF-7235584F0420}"/>
              </a:ext>
            </a:extLst>
          </p:cNvPr>
          <p:cNvSpPr/>
          <p:nvPr/>
        </p:nvSpPr>
        <p:spPr>
          <a:xfrm>
            <a:off x="2633704" y="2136917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3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1DAC0F1-9364-E251-6F44-FDADCF5049A1}"/>
              </a:ext>
            </a:extLst>
          </p:cNvPr>
          <p:cNvSpPr/>
          <p:nvPr/>
        </p:nvSpPr>
        <p:spPr>
          <a:xfrm>
            <a:off x="2081761" y="3591765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9AE6E8D-F7E5-4620-FBCB-A14C982D274A}"/>
              </a:ext>
            </a:extLst>
          </p:cNvPr>
          <p:cNvSpPr/>
          <p:nvPr/>
        </p:nvSpPr>
        <p:spPr>
          <a:xfrm>
            <a:off x="3964140" y="5081617"/>
            <a:ext cx="256032" cy="256032"/>
          </a:xfrm>
          <a:prstGeom prst="ellipse">
            <a:avLst/>
          </a:prstGeom>
          <a:solidFill>
            <a:srgbClr val="16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1525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WS-architecture-icons">
      <a:dk1>
        <a:srgbClr val="232F3C"/>
      </a:dk1>
      <a:lt1>
        <a:srgbClr val="FAFAFA"/>
      </a:lt1>
      <a:dk2>
        <a:srgbClr val="545B63"/>
      </a:dk2>
      <a:lt2>
        <a:srgbClr val="E5ECEF"/>
      </a:lt2>
      <a:accent1>
        <a:srgbClr val="FF9900"/>
      </a:accent1>
      <a:accent2>
        <a:srgbClr val="F0613C"/>
      </a:accent2>
      <a:accent3>
        <a:srgbClr val="007CBD"/>
      </a:accent3>
      <a:accent4>
        <a:srgbClr val="00A0C8"/>
      </a:accent4>
      <a:accent5>
        <a:srgbClr val="1D8900"/>
      </a:accent5>
      <a:accent6>
        <a:srgbClr val="69AE34"/>
      </a:accent6>
      <a:hlink>
        <a:srgbClr val="007CBC"/>
      </a:hlink>
      <a:folHlink>
        <a:srgbClr val="007C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>
        <a:spAutoFit/>
      </a:bodyPr>
      <a:lstStyle>
        <a:defPPr algn="ctr" eaLnBrk="1" hangingPunct="1">
          <a:defRPr sz="1200" dirty="0">
            <a:latin typeface="Arial" panose="020B0604020202020204" pitchFamily="34" charset="0"/>
            <a:ea typeface="Amazon Ember" panose="020B0603020204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8552</TotalTime>
  <Words>398</Words>
  <Application>Microsoft Macintosh PowerPoint</Application>
  <PresentationFormat>Widescreen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>Amazon.com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Architecture Template</dc:title>
  <dc:subject/>
  <dc:creator>Amazon Web Services</dc:creator>
  <cp:keywords/>
  <dc:description/>
  <cp:lastModifiedBy>Kumar, Ravi</cp:lastModifiedBy>
  <cp:revision>258</cp:revision>
  <dcterms:created xsi:type="dcterms:W3CDTF">2018-02-11T04:20:17Z</dcterms:created>
  <dcterms:modified xsi:type="dcterms:W3CDTF">2026-08-06T04:41:39Z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2025-06-25T17:18:00Z</vt:lpwstr>
  </property>
  <property fmtid="{D5CDD505-2E9C-101B-9397-08002B2CF9AE}" pid="4" name="MSIP_Label_19e68092-05df-4271-8e3e-b2a4c82ba797_Method">
    <vt:lpwstr>Privileged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c8a91bb8-1872-47fd-ab82-d1c920e539b4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10, 0, 1, 1</vt:lpwstr>
  </property>
</Properties>
</file>